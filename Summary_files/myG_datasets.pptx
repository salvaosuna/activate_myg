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8B3E3-7AB2-4429-BE15-956D6BDF891D}" v="15" dt="2026-03-24T17:04:12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33" d="100"/>
          <a:sy n="33" d="100"/>
        </p:scale>
        <p:origin x="2525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una Caballero, Salvador" userId="31a72479-bada-497d-8d52-8135df6f40fd" providerId="ADAL" clId="{D2B66155-CD56-4707-941E-ED29011F1011}"/>
    <pc:docChg chg="modSld">
      <pc:chgData name="Osuna Caballero, Salvador" userId="31a72479-bada-497d-8d52-8135df6f40fd" providerId="ADAL" clId="{D2B66155-CD56-4707-941E-ED29011F1011}" dt="2026-03-02T16:05:36.786" v="3" actId="1076"/>
      <pc:docMkLst>
        <pc:docMk/>
      </pc:docMkLst>
      <pc:sldChg chg="addSp modSp mod">
        <pc:chgData name="Osuna Caballero, Salvador" userId="31a72479-bada-497d-8d52-8135df6f40fd" providerId="ADAL" clId="{D2B66155-CD56-4707-941E-ED29011F1011}" dt="2026-03-02T16:05:36.786" v="3" actId="1076"/>
        <pc:sldMkLst>
          <pc:docMk/>
          <pc:sldMk cId="1467065501" sldId="257"/>
        </pc:sldMkLst>
        <pc:picChg chg="add mod">
          <ac:chgData name="Osuna Caballero, Salvador" userId="31a72479-bada-497d-8d52-8135df6f40fd" providerId="ADAL" clId="{D2B66155-CD56-4707-941E-ED29011F1011}" dt="2026-03-02T16:05:36.786" v="3" actId="1076"/>
          <ac:picMkLst>
            <pc:docMk/>
            <pc:sldMk cId="1467065501" sldId="257"/>
            <ac:picMk id="3" creationId="{7DDA876C-5882-330C-4979-4C11869ED8EB}"/>
          </ac:picMkLst>
        </pc:picChg>
      </pc:sldChg>
    </pc:docChg>
  </pc:docChgLst>
  <pc:docChgLst>
    <pc:chgData name="Osuna Caballero, Salvador" userId="31a72479-bada-497d-8d52-8135df6f40fd" providerId="ADAL" clId="{A193FB44-5427-4021-BB49-C378ACCCCB1C}"/>
    <pc:docChg chg="undo custSel addSld modSld">
      <pc:chgData name="Osuna Caballero, Salvador" userId="31a72479-bada-497d-8d52-8135df6f40fd" providerId="ADAL" clId="{A193FB44-5427-4021-BB49-C378ACCCCB1C}" dt="2026-03-24T17:04:12.968" v="204" actId="164"/>
      <pc:docMkLst>
        <pc:docMk/>
      </pc:docMkLst>
      <pc:sldChg chg="addSp delSp modSp new mod">
        <pc:chgData name="Osuna Caballero, Salvador" userId="31a72479-bada-497d-8d52-8135df6f40fd" providerId="ADAL" clId="{A193FB44-5427-4021-BB49-C378ACCCCB1C}" dt="2026-03-24T17:04:12.968" v="204" actId="164"/>
        <pc:sldMkLst>
          <pc:docMk/>
          <pc:sldMk cId="3650395769" sldId="258"/>
        </pc:sldMkLst>
        <pc:spChg chg="del">
          <ac:chgData name="Osuna Caballero, Salvador" userId="31a72479-bada-497d-8d52-8135df6f40fd" providerId="ADAL" clId="{A193FB44-5427-4021-BB49-C378ACCCCB1C}" dt="2026-03-24T16:08:16.523" v="2" actId="478"/>
          <ac:spMkLst>
            <pc:docMk/>
            <pc:sldMk cId="3650395769" sldId="258"/>
            <ac:spMk id="2" creationId="{C4E7C7E0-D808-B0BF-8120-CBD7E508C76F}"/>
          </ac:spMkLst>
        </pc:spChg>
        <pc:spChg chg="del">
          <ac:chgData name="Osuna Caballero, Salvador" userId="31a72479-bada-497d-8d52-8135df6f40fd" providerId="ADAL" clId="{A193FB44-5427-4021-BB49-C378ACCCCB1C}" dt="2026-03-24T16:08:16.068" v="1" actId="478"/>
          <ac:spMkLst>
            <pc:docMk/>
            <pc:sldMk cId="3650395769" sldId="258"/>
            <ac:spMk id="3" creationId="{40F716F6-4985-6C1B-AB1B-52519622B854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8" creationId="{ED71EDC8-6D51-643D-A342-35BDB405F7D7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9" creationId="{68EB16C6-C17E-8D4A-D26A-646B27EC132F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10" creationId="{6C92975F-DC7E-B199-0370-504811CB8AF4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11" creationId="{BD263C1A-14BF-E87D-2939-1E9E3407EE8F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12" creationId="{D2F9BAE7-CF8A-2FDC-351C-1AFB73521164}"/>
          </ac:spMkLst>
        </pc:spChg>
        <pc:spChg chg="add mod ord topLvl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13" creationId="{3CCEB87B-EC93-A916-6463-8980CDE9B58A}"/>
          </ac:spMkLst>
        </pc:spChg>
        <pc:spChg chg="add mod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20" creationId="{D5B2B62B-2DD0-B9A8-9282-9D278D199A79}"/>
          </ac:spMkLst>
        </pc:spChg>
        <pc:spChg chg="add mod">
          <ac:chgData name="Osuna Caballero, Salvador" userId="31a72479-bada-497d-8d52-8135df6f40fd" providerId="ADAL" clId="{A193FB44-5427-4021-BB49-C378ACCCCB1C}" dt="2026-03-24T17:04:12.968" v="204" actId="164"/>
          <ac:spMkLst>
            <pc:docMk/>
            <pc:sldMk cId="3650395769" sldId="258"/>
            <ac:spMk id="21" creationId="{16576459-7AA9-18F0-73CE-B2BAF981B571}"/>
          </ac:spMkLst>
        </pc:spChg>
        <pc:grpChg chg="add del mod">
          <ac:chgData name="Osuna Caballero, Salvador" userId="31a72479-bada-497d-8d52-8135df6f40fd" providerId="ADAL" clId="{A193FB44-5427-4021-BB49-C378ACCCCB1C}" dt="2026-03-24T17:00:33.978" v="115" actId="165"/>
          <ac:grpSpMkLst>
            <pc:docMk/>
            <pc:sldMk cId="3650395769" sldId="258"/>
            <ac:grpSpMk id="14" creationId="{83FA50D9-CB8C-EB3B-437C-83BBE5CA5158}"/>
          </ac:grpSpMkLst>
        </pc:grpChg>
        <pc:picChg chg="add mod topLvl">
          <ac:chgData name="Osuna Caballero, Salvador" userId="31a72479-bada-497d-8d52-8135df6f40fd" providerId="ADAL" clId="{A193FB44-5427-4021-BB49-C378ACCCCB1C}" dt="2026-03-24T17:04:12.968" v="204" actId="164"/>
          <ac:picMkLst>
            <pc:docMk/>
            <pc:sldMk cId="3650395769" sldId="258"/>
            <ac:picMk id="5" creationId="{9D5F1B53-710F-AD3B-ACD3-4B6BF2870AAE}"/>
          </ac:picMkLst>
        </pc:picChg>
        <pc:picChg chg="add mod ord topLvl">
          <ac:chgData name="Osuna Caballero, Salvador" userId="31a72479-bada-497d-8d52-8135df6f40fd" providerId="ADAL" clId="{A193FB44-5427-4021-BB49-C378ACCCCB1C}" dt="2026-03-24T17:03:05.947" v="154" actId="1036"/>
          <ac:picMkLst>
            <pc:docMk/>
            <pc:sldMk cId="3650395769" sldId="258"/>
            <ac:picMk id="7" creationId="{4D46E6DB-E8D5-CFA2-DE19-5E0DD60D4D7B}"/>
          </ac:picMkLst>
        </pc:picChg>
        <pc:picChg chg="add del mod">
          <ac:chgData name="Osuna Caballero, Salvador" userId="31a72479-bada-497d-8d52-8135df6f40fd" providerId="ADAL" clId="{A193FB44-5427-4021-BB49-C378ACCCCB1C}" dt="2026-03-24T16:51:59.307" v="95" actId="478"/>
          <ac:picMkLst>
            <pc:docMk/>
            <pc:sldMk cId="3650395769" sldId="258"/>
            <ac:picMk id="16" creationId="{EC9BA0EF-39E0-2EA5-36A4-AFC345F10446}"/>
          </ac:picMkLst>
        </pc:picChg>
        <pc:picChg chg="add mod">
          <ac:chgData name="Osuna Caballero, Salvador" userId="31a72479-bada-497d-8d52-8135df6f40fd" providerId="ADAL" clId="{A193FB44-5427-4021-BB49-C378ACCCCB1C}" dt="2026-03-24T17:02:02.509" v="122" actId="1076"/>
          <ac:picMkLst>
            <pc:docMk/>
            <pc:sldMk cId="3650395769" sldId="258"/>
            <ac:picMk id="18" creationId="{313FF7A6-60C0-7496-0780-504CB704A136}"/>
          </ac:picMkLst>
        </pc:picChg>
        <pc:picChg chg="add mod modCrop">
          <ac:chgData name="Osuna Caballero, Salvador" userId="31a72479-bada-497d-8d52-8135df6f40fd" providerId="ADAL" clId="{A193FB44-5427-4021-BB49-C378ACCCCB1C}" dt="2026-03-24T17:04:12.968" v="204" actId="164"/>
          <ac:picMkLst>
            <pc:docMk/>
            <pc:sldMk cId="3650395769" sldId="258"/>
            <ac:picMk id="19" creationId="{76E23561-E60F-A30F-31B2-8D09772074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2D80-37E4-EC93-DBBE-F95A85A4A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6CA06-4ADB-73DC-D78B-BA1E75D18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2387-FB4C-CE53-7F3F-EECCBF96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6C20-BB08-4EAE-8314-A4742E39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7B5ED-3D63-3B5D-E3DD-04949E01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59ECE-782F-93A4-07FE-49FA289D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5E77-D503-E900-8B4E-97FA7EF2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18185-801A-1142-C3AF-8DD8BDE1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6D95F-5436-F1C4-2825-09B2B70A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E57A6-0AAE-3B56-5D77-4011EE4D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8317-B20A-C663-00D0-A4354C19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8434A-766E-101E-E011-A2D607E3D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5BB6D-FBA2-F9DE-F7CE-4F84F34C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48DE8-2790-951D-E45C-DB0726F1E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7F5A-8491-9561-1173-9FFD5767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9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3391-3A25-56B1-BB4B-214991FB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F28C-5FD9-5B85-C04B-DF5521991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637A-94C4-38A8-13EB-FA05D6425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00742-2681-152A-635D-DF961DBA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4F40D-30DC-E3E5-319C-DA89B7CB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0274B-9274-062C-0695-465AE495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82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5309-B27B-7220-A5D9-AB4976A1E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2A5F3-D3CD-4D46-0242-59A479E42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60DFD-38D7-984B-50F5-2932F50D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E16830-6F03-E730-723A-D5D8751E6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F733B-9162-58C7-D2B7-A9029730C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96900-0A75-D6F9-F2CE-4BE5B3BB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7E38D-D4AE-5B72-815D-9B0A43B5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9617A-6EA3-7889-51E6-7234C7ED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0DAC-0DE1-1C22-022E-C4D57EF6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5FE44-D3BF-7688-69E8-F6DEA052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BEB85-FC53-07B3-B045-304AC869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ED289-18E1-D843-896A-95F3DC52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C1A28-A3B1-8BBC-4DD9-40F7E073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7C4E3-0527-11B1-CA58-BF07DE8C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2D21C-456D-5A65-781A-B20ECFAE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67CC-89B6-C49A-0D7D-726C236B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6C68-7C7A-2383-9A8E-CE9194BB4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3785A-5D63-C23B-4FE0-23CF766BA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57421-46A6-566F-8234-8521E859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8935F-3280-6F94-EE54-70C0FDF1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1CF9D-5D2A-77BF-B496-8B97B056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2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6A78-B814-81ED-EBDD-F607223B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F797E-B97E-933B-8F22-95EE2454B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A1D9A-65C1-017D-CDFC-F2A8CE684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E4223-6917-9596-5835-36FEC336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2B3C0-4811-E1E2-2CC0-624615E1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A1882-04A3-4AB7-93EA-7EB6775A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D17D-F29B-0C0A-FABE-F9FDF0E1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73BA9-B717-239A-9287-11AE0910E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A5AF-AADD-0531-967D-BCFC5956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A38D-CEC1-27E6-0B98-ED0A033D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1357-F47B-628C-B3C8-04E64545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7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A5C4A-C411-8042-D54C-432E388FF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B3E87-E0E0-C1C6-0A8B-8309329EC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13982-D130-6081-37B0-22E63FF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E29BE-26D0-1B99-6FBF-AE8617A3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9AB9B-54E2-ACA8-5909-E9F64797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3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09EA1-7013-6FFA-40AD-A39C7DFF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09E3-6430-3DAC-F4BD-929109EFA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EFA1-19F9-3A49-5894-3E5E4767F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4717B-0164-4AB7-833C-17E8EBBB838C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5A14E-6466-BDE5-CFCE-99E477519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A6D44-9CAB-0C64-3F49-F43B5DC61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6F8E1-CB42-411E-8289-554FE73C9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0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E9EB9-6984-EE28-5227-2D1C4DADE71C}"/>
              </a:ext>
            </a:extLst>
          </p:cNvPr>
          <p:cNvSpPr txBox="1"/>
          <p:nvPr/>
        </p:nvSpPr>
        <p:spPr>
          <a:xfrm>
            <a:off x="0" y="0"/>
            <a:ext cx="386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ACTIVATE genetic diversity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7B314-DC03-D32C-F5BC-A2B5914F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71" y="1012885"/>
            <a:ext cx="2781300" cy="30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409BB-78DC-B7D7-1AB6-D8E97737B6DF}"/>
              </a:ext>
            </a:extLst>
          </p:cNvPr>
          <p:cNvSpPr txBox="1"/>
          <p:nvPr/>
        </p:nvSpPr>
        <p:spPr>
          <a:xfrm>
            <a:off x="433471" y="698684"/>
            <a:ext cx="543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JB2: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9364E-BD18-9BDB-41F8-9ED0B14F60F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3214771" y="1165285"/>
            <a:ext cx="115720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3BF0F81-5F1C-7F4D-150B-B846534CEAD7}"/>
              </a:ext>
            </a:extLst>
          </p:cNvPr>
          <p:cNvGrpSpPr/>
          <p:nvPr/>
        </p:nvGrpSpPr>
        <p:grpSpPr>
          <a:xfrm>
            <a:off x="4371975" y="536635"/>
            <a:ext cx="3448050" cy="1257300"/>
            <a:chOff x="4299703" y="518850"/>
            <a:chExt cx="3448050" cy="12573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888174-DA45-43B4-4D3B-C27E118D2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9703" y="518850"/>
              <a:ext cx="3448050" cy="1257300"/>
            </a:xfrm>
            <a:prstGeom prst="rect">
              <a:avLst/>
            </a:prstGeom>
          </p:spPr>
        </p:pic>
        <p:sp>
          <p:nvSpPr>
            <p:cNvPr id="15" name="Multiplication Sign 14">
              <a:extLst>
                <a:ext uri="{FF2B5EF4-FFF2-40B4-BE49-F238E27FC236}">
                  <a16:creationId xmlns:a16="http://schemas.microsoft.com/office/drawing/2014/main" id="{23A88E03-1966-8252-1A3D-A6AEFE1B8F3F}"/>
                </a:ext>
              </a:extLst>
            </p:cNvPr>
            <p:cNvSpPr/>
            <p:nvPr/>
          </p:nvSpPr>
          <p:spPr>
            <a:xfrm>
              <a:off x="4339471" y="1057161"/>
              <a:ext cx="301658" cy="320511"/>
            </a:xfrm>
            <a:prstGeom prst="mathMultiply">
              <a:avLst>
                <a:gd name="adj1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253113-3C24-E60E-90BC-19F354AD5046}"/>
                </a:ext>
              </a:extLst>
            </p:cNvPr>
            <p:cNvSpPr/>
            <p:nvPr/>
          </p:nvSpPr>
          <p:spPr>
            <a:xfrm>
              <a:off x="4348898" y="1098011"/>
              <a:ext cx="2818616" cy="230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Left Brace 17">
            <a:extLst>
              <a:ext uri="{FF2B5EF4-FFF2-40B4-BE49-F238E27FC236}">
                <a16:creationId xmlns:a16="http://schemas.microsoft.com/office/drawing/2014/main" id="{C7073A33-4933-039E-FD2D-9CC82F0E844A}"/>
              </a:ext>
            </a:extLst>
          </p:cNvPr>
          <p:cNvSpPr/>
          <p:nvPr/>
        </p:nvSpPr>
        <p:spPr>
          <a:xfrm rot="5400000">
            <a:off x="5493659" y="-3358870"/>
            <a:ext cx="488245" cy="10793856"/>
          </a:xfrm>
          <a:prstGeom prst="leftBrace">
            <a:avLst>
              <a:gd name="adj1" fmla="val 52884"/>
              <a:gd name="adj2" fmla="val 4685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D4846-FEAB-D36F-8365-FD06ED073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358" y="1318069"/>
            <a:ext cx="1899639" cy="6711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4E99A2-C815-B63D-6175-F98529413900}"/>
              </a:ext>
            </a:extLst>
          </p:cNvPr>
          <p:cNvSpPr txBox="1"/>
          <p:nvPr/>
        </p:nvSpPr>
        <p:spPr>
          <a:xfrm>
            <a:off x="433471" y="2132074"/>
            <a:ext cx="2686801" cy="244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Structural variants (SVs):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these variants are flagged in the VCF's </a:t>
            </a:r>
            <a:r>
              <a:rPr lang="en-US" sz="1600" dirty="0">
                <a:latin typeface="Courier New" panose="02070309020205020404" pitchFamily="49" charset="0"/>
              </a:rPr>
              <a:t>INFO</a:t>
            </a:r>
            <a:r>
              <a:rPr lang="en-US" sz="1600" dirty="0"/>
              <a:t> column with specific structural tags: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Courier New" panose="02070309020205020404" pitchFamily="49" charset="0"/>
              </a:rPr>
              <a:t>SVTYPE = INS</a:t>
            </a:r>
            <a:r>
              <a:rPr lang="en-US" sz="1600" dirty="0"/>
              <a:t>,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Courier New" panose="02070309020205020404" pitchFamily="49" charset="0"/>
              </a:rPr>
              <a:t>SVTYPE = DEL</a:t>
            </a:r>
            <a:r>
              <a:rPr lang="en-US" sz="1600" dirty="0"/>
              <a:t>,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Courier New" panose="02070309020205020404" pitchFamily="49" charset="0"/>
              </a:rPr>
              <a:t>SVTYPE = DUP</a:t>
            </a:r>
            <a:r>
              <a:rPr lang="en-US" sz="1600" dirty="0"/>
              <a:t>, 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Courier New" panose="02070309020205020404" pitchFamily="49" charset="0"/>
              </a:rPr>
              <a:t>SVTYPE = INV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75876E-1ED7-5FAA-496C-997A0642D838}"/>
              </a:ext>
            </a:extLst>
          </p:cNvPr>
          <p:cNvSpPr txBox="1"/>
          <p:nvPr/>
        </p:nvSpPr>
        <p:spPr>
          <a:xfrm>
            <a:off x="3212890" y="2132074"/>
            <a:ext cx="2686801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Biallelic variants (SNPs):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5EC882-37BF-B845-4AF7-7917EBE8D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70" y="2554447"/>
            <a:ext cx="3038475" cy="5715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03BC606-8C44-8926-5A6E-F9F8747EA54E}"/>
              </a:ext>
            </a:extLst>
          </p:cNvPr>
          <p:cNvSpPr/>
          <p:nvPr/>
        </p:nvSpPr>
        <p:spPr>
          <a:xfrm>
            <a:off x="414813" y="2183412"/>
            <a:ext cx="2686801" cy="2443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3A194E-C173-2AB8-843D-35B61271E6E1}"/>
              </a:ext>
            </a:extLst>
          </p:cNvPr>
          <p:cNvSpPr/>
          <p:nvPr/>
        </p:nvSpPr>
        <p:spPr>
          <a:xfrm>
            <a:off x="3261642" y="2183411"/>
            <a:ext cx="3038475" cy="11725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FFAB12-2AF0-3033-A380-C34DD10E3EBD}"/>
              </a:ext>
            </a:extLst>
          </p:cNvPr>
          <p:cNvSpPr txBox="1"/>
          <p:nvPr/>
        </p:nvSpPr>
        <p:spPr>
          <a:xfrm>
            <a:off x="7300511" y="2132074"/>
            <a:ext cx="2918145" cy="12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Coding regions (SNPs):</a:t>
            </a:r>
          </a:p>
          <a:p>
            <a:pPr algn="just">
              <a:lnSpc>
                <a:spcPct val="120000"/>
              </a:lnSpc>
            </a:pPr>
            <a:r>
              <a:rPr lang="en-US" sz="1600" dirty="0"/>
              <a:t>Emulate an exome capture sequencing to compare the LDP and ACT </a:t>
            </a:r>
            <a:r>
              <a:rPr lang="en-US" sz="1600" dirty="0" err="1"/>
              <a:t>geno</a:t>
            </a:r>
            <a:r>
              <a:rPr lang="en-US" sz="1600" dirty="0"/>
              <a:t> datasets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FFEA62-8DBF-0284-48D8-1BE69C3796EE}"/>
              </a:ext>
            </a:extLst>
          </p:cNvPr>
          <p:cNvSpPr/>
          <p:nvPr/>
        </p:nvSpPr>
        <p:spPr>
          <a:xfrm>
            <a:off x="7349263" y="2183411"/>
            <a:ext cx="3038475" cy="12572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AE66662-5B23-B12E-02C1-45226FD9C4B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6300117" y="2769677"/>
            <a:ext cx="1049146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E86683-75B9-4F8D-D0F2-22DA64DFE071}"/>
              </a:ext>
            </a:extLst>
          </p:cNvPr>
          <p:cNvCxnSpPr>
            <a:cxnSpLocks/>
          </p:cNvCxnSpPr>
          <p:nvPr/>
        </p:nvCxnSpPr>
        <p:spPr>
          <a:xfrm>
            <a:off x="6023728" y="3355943"/>
            <a:ext cx="3931" cy="7323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C5984B-1076-A193-0723-70EEF81D59A2}"/>
              </a:ext>
            </a:extLst>
          </p:cNvPr>
          <p:cNvSpPr txBox="1"/>
          <p:nvPr/>
        </p:nvSpPr>
        <p:spPr>
          <a:xfrm>
            <a:off x="4528010" y="4066371"/>
            <a:ext cx="2711775" cy="96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Pruned Set (SNPs):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SNPs set pruned based on linkage disequilibrium (LD)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DA76BD-4B7E-325A-881E-68FAF59E91D5}"/>
              </a:ext>
            </a:extLst>
          </p:cNvPr>
          <p:cNvSpPr/>
          <p:nvPr/>
        </p:nvSpPr>
        <p:spPr>
          <a:xfrm>
            <a:off x="4576762" y="4117708"/>
            <a:ext cx="2558993" cy="961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46F86EB-BF3A-76A9-E555-580404C0D12F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8868501" y="3440615"/>
            <a:ext cx="3931" cy="143304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D032396-06B8-3BB0-3444-84720DDD1301}"/>
              </a:ext>
            </a:extLst>
          </p:cNvPr>
          <p:cNvSpPr txBox="1"/>
          <p:nvPr/>
        </p:nvSpPr>
        <p:spPr>
          <a:xfrm>
            <a:off x="7531855" y="4873658"/>
            <a:ext cx="2686801" cy="66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ACT + LDP (SNPs):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Common SNPs dataset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A97781-942C-D79C-B86B-AB3F683B44B7}"/>
              </a:ext>
            </a:extLst>
          </p:cNvPr>
          <p:cNvSpPr/>
          <p:nvPr/>
        </p:nvSpPr>
        <p:spPr>
          <a:xfrm>
            <a:off x="7580608" y="4924995"/>
            <a:ext cx="2404570" cy="681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767F070F-1148-3EC1-C23E-F95FC4D40F56}"/>
              </a:ext>
            </a:extLst>
          </p:cNvPr>
          <p:cNvSpPr/>
          <p:nvPr/>
        </p:nvSpPr>
        <p:spPr>
          <a:xfrm rot="16597359">
            <a:off x="8849850" y="3933620"/>
            <a:ext cx="914400" cy="931773"/>
          </a:xfrm>
          <a:prstGeom prst="blockArc">
            <a:avLst>
              <a:gd name="adj1" fmla="val 15708923"/>
              <a:gd name="adj2" fmla="val 21035570"/>
              <a:gd name="adj3" fmla="val 5849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661588E-7799-A023-D824-657F20F635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10" b="52917"/>
          <a:stretch>
            <a:fillRect/>
          </a:stretch>
        </p:blipFill>
        <p:spPr>
          <a:xfrm>
            <a:off x="9305230" y="3703862"/>
            <a:ext cx="2165016" cy="591975"/>
          </a:xfrm>
          <a:prstGeom prst="rect">
            <a:avLst/>
          </a:prstGeom>
        </p:spPr>
      </p:pic>
      <p:sp>
        <p:nvSpPr>
          <p:cNvPr id="54" name="Multiplication Sign 53">
            <a:extLst>
              <a:ext uri="{FF2B5EF4-FFF2-40B4-BE49-F238E27FC236}">
                <a16:creationId xmlns:a16="http://schemas.microsoft.com/office/drawing/2014/main" id="{6751B49D-26BE-C67E-5EEB-78A4F4D97367}"/>
              </a:ext>
            </a:extLst>
          </p:cNvPr>
          <p:cNvSpPr/>
          <p:nvPr/>
        </p:nvSpPr>
        <p:spPr>
          <a:xfrm>
            <a:off x="9338056" y="4031945"/>
            <a:ext cx="301658" cy="320511"/>
          </a:xfrm>
          <a:prstGeom prst="mathMultiply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8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35AD84-BD39-0C59-1411-1676344A28F5}"/>
              </a:ext>
            </a:extLst>
          </p:cNvPr>
          <p:cNvSpPr txBox="1"/>
          <p:nvPr/>
        </p:nvSpPr>
        <p:spPr>
          <a:xfrm>
            <a:off x="0" y="0"/>
            <a:ext cx="386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ACTIVATE genetic diversity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48BED9-A622-4BD3-7A3F-4065587F6B09}"/>
              </a:ext>
            </a:extLst>
          </p:cNvPr>
          <p:cNvGrpSpPr/>
          <p:nvPr/>
        </p:nvGrpSpPr>
        <p:grpSpPr>
          <a:xfrm>
            <a:off x="4371975" y="536635"/>
            <a:ext cx="3448050" cy="1257300"/>
            <a:chOff x="4299703" y="518850"/>
            <a:chExt cx="3448050" cy="12573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790B37-1A37-B338-E091-2622A6DD1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99703" y="518850"/>
              <a:ext cx="3448050" cy="1257300"/>
            </a:xfrm>
            <a:prstGeom prst="rect">
              <a:avLst/>
            </a:prstGeom>
          </p:spPr>
        </p:pic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2909B690-F0DE-5D8D-550F-C894CA49049D}"/>
                </a:ext>
              </a:extLst>
            </p:cNvPr>
            <p:cNvSpPr/>
            <p:nvPr/>
          </p:nvSpPr>
          <p:spPr>
            <a:xfrm>
              <a:off x="4339471" y="1057161"/>
              <a:ext cx="301658" cy="320511"/>
            </a:xfrm>
            <a:prstGeom prst="mathMultiply">
              <a:avLst>
                <a:gd name="adj1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0CAF4B-004A-6567-54AE-3CFDD7AB7216}"/>
                </a:ext>
              </a:extLst>
            </p:cNvPr>
            <p:cNvSpPr/>
            <p:nvPr/>
          </p:nvSpPr>
          <p:spPr>
            <a:xfrm>
              <a:off x="4348898" y="1098011"/>
              <a:ext cx="2818616" cy="230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B700F1D-DB62-7179-924C-A5F39EBC2C98}"/>
              </a:ext>
            </a:extLst>
          </p:cNvPr>
          <p:cNvSpPr txBox="1"/>
          <p:nvPr/>
        </p:nvSpPr>
        <p:spPr>
          <a:xfrm>
            <a:off x="285155" y="593606"/>
            <a:ext cx="3860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the </a:t>
            </a:r>
            <a:r>
              <a:rPr lang="en-US" dirty="0" err="1"/>
              <a:t>geno</a:t>
            </a:r>
            <a:r>
              <a:rPr lang="en-US" dirty="0"/>
              <a:t> file to run our association analysis (GWAS + GS).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file is in a different format accepted by GAPIT and is 12 GB.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426AB7-33D2-0154-0020-3826BCEC2B8A}"/>
              </a:ext>
            </a:extLst>
          </p:cNvPr>
          <p:cNvCxnSpPr/>
          <p:nvPr/>
        </p:nvCxnSpPr>
        <p:spPr>
          <a:xfrm>
            <a:off x="169682" y="1951348"/>
            <a:ext cx="11764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DDA876C-5882-330C-4979-4C11869E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0" y="2181272"/>
            <a:ext cx="12059240" cy="197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6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CFB7BC4-4F38-6483-81AA-2AA043FD6486}"/>
              </a:ext>
            </a:extLst>
          </p:cNvPr>
          <p:cNvGrpSpPr/>
          <p:nvPr/>
        </p:nvGrpSpPr>
        <p:grpSpPr>
          <a:xfrm>
            <a:off x="-32549" y="-2030575"/>
            <a:ext cx="6511085" cy="8892385"/>
            <a:chOff x="-32549" y="-2030575"/>
            <a:chExt cx="6511085" cy="88923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5F1B53-710F-AD3B-ACD3-4B6BF287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" y="-2030575"/>
              <a:ext cx="6478537" cy="35996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13FF7A6-60C0-7496-0780-504CB704A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2" y="1162854"/>
              <a:ext cx="6478537" cy="323850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E23561-E60F-A30F-31B2-8D0977207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392"/>
            <a:stretch>
              <a:fillRect/>
            </a:stretch>
          </p:blipFill>
          <p:spPr>
            <a:xfrm>
              <a:off x="-4" y="247957"/>
              <a:ext cx="6478537" cy="92181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D46E6DB-E8D5-CFA2-DE19-5E0DD60D4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" y="4342633"/>
              <a:ext cx="6478537" cy="2519177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71EDC8-6D51-643D-A342-35BDB405F7D7}"/>
                </a:ext>
              </a:extLst>
            </p:cNvPr>
            <p:cNvSpPr/>
            <p:nvPr/>
          </p:nvSpPr>
          <p:spPr>
            <a:xfrm>
              <a:off x="30478" y="1243733"/>
              <a:ext cx="109220" cy="116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EB16C6-C17E-8D4A-D26A-646B27EC132F}"/>
                </a:ext>
              </a:extLst>
            </p:cNvPr>
            <p:cNvSpPr/>
            <p:nvPr/>
          </p:nvSpPr>
          <p:spPr>
            <a:xfrm>
              <a:off x="107475" y="4481539"/>
              <a:ext cx="109220" cy="116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92975F-DC7E-B199-0370-504811CB8AF4}"/>
                </a:ext>
              </a:extLst>
            </p:cNvPr>
            <p:cNvSpPr/>
            <p:nvPr/>
          </p:nvSpPr>
          <p:spPr>
            <a:xfrm>
              <a:off x="4416056" y="4493985"/>
              <a:ext cx="109220" cy="116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63C1A-14BF-E87D-2939-1E9E3407EE8F}"/>
                </a:ext>
              </a:extLst>
            </p:cNvPr>
            <p:cNvSpPr txBox="1"/>
            <p:nvPr/>
          </p:nvSpPr>
          <p:spPr>
            <a:xfrm>
              <a:off x="-32549" y="1164759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F9BAE7-CF8A-2FDC-351C-1AFB73521164}"/>
                </a:ext>
              </a:extLst>
            </p:cNvPr>
            <p:cNvSpPr txBox="1"/>
            <p:nvPr/>
          </p:nvSpPr>
          <p:spPr>
            <a:xfrm>
              <a:off x="49528" y="4417483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5B2B62B-2DD0-B9A8-9282-9D278D199A79}"/>
                </a:ext>
              </a:extLst>
            </p:cNvPr>
            <p:cNvSpPr/>
            <p:nvPr/>
          </p:nvSpPr>
          <p:spPr>
            <a:xfrm>
              <a:off x="2385417" y="4478998"/>
              <a:ext cx="109220" cy="116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CEB87B-EC93-A916-6463-8980CDE9B58A}"/>
                </a:ext>
              </a:extLst>
            </p:cNvPr>
            <p:cNvSpPr txBox="1"/>
            <p:nvPr/>
          </p:nvSpPr>
          <p:spPr>
            <a:xfrm>
              <a:off x="2352723" y="4417483"/>
              <a:ext cx="2279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576459-7AA9-18F0-73CE-B2BAF981B571}"/>
                </a:ext>
              </a:extLst>
            </p:cNvPr>
            <p:cNvSpPr txBox="1"/>
            <p:nvPr/>
          </p:nvSpPr>
          <p:spPr>
            <a:xfrm>
              <a:off x="4345262" y="4417483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039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1856</TotalTime>
  <Words>126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Osuna Caballero, Salvador</dc:creator>
  <cp:lastModifiedBy>Osuna Caballero, Salvador</cp:lastModifiedBy>
  <cp:revision>1</cp:revision>
  <dcterms:created xsi:type="dcterms:W3CDTF">2026-02-23T16:37:50Z</dcterms:created>
  <dcterms:modified xsi:type="dcterms:W3CDTF">2026-03-24T17:04:21Z</dcterms:modified>
</cp:coreProperties>
</file>